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920820" y="839391"/>
            <a:ext cx="3302359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NXSTEP</a:t>
            </a:r>
            <a:endParaRPr lang="en-US" sz="6400" dirty="0"/>
          </a:p>
        </p:txBody>
      </p:sp>
      <p:sp>
        <p:nvSpPr>
          <p:cNvPr id="3" name="Text 1"/>
          <p:cNvSpPr/>
          <p:nvPr/>
        </p:nvSpPr>
        <p:spPr>
          <a:xfrm>
            <a:off x="297180" y="2020491"/>
            <a:ext cx="8549640" cy="853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360"/>
              </a:lnSpc>
              <a:spcBef>
                <a:spcPts val="1500"/>
              </a:spcBef>
              <a:spcAft>
                <a:spcPts val="750"/>
              </a:spcAft>
              <a:buNone/>
            </a:pPr>
            <a:r>
              <a:rPr lang="en-US" sz="24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PROPELLING YOUR BUSINESS INTO THE DIGITAL FUTURE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19500" y="3540621"/>
            <a:ext cx="1905000" cy="38100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034522" y="3959721"/>
            <a:ext cx="3074956" cy="248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60"/>
              </a:lnSpc>
              <a:spcBef>
                <a:spcPts val="3000"/>
              </a:spcBef>
              <a:spcAft>
                <a:spcPts val="750"/>
              </a:spcAft>
              <a:buNone/>
            </a:pPr>
            <a:r>
              <a:rPr lang="en-US" sz="14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PROPOSAL &amp; STRATEGY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854964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750"/>
              </a:spcAft>
              <a:buNone/>
            </a:pPr>
            <a:r>
              <a:rPr lang="en-US" sz="2800" b="1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CHALLENGE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81000" y="904875"/>
            <a:ext cx="8549640" cy="676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DIGITAL INEFFICIENCY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381000" y="1866900"/>
            <a:ext cx="8382000" cy="779711"/>
          </a:xfrm>
          <a:prstGeom prst="roundRect">
            <a:avLst>
              <a:gd name="adj" fmla="val 14659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81025" y="2066925"/>
            <a:ext cx="8141589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spcAft>
                <a:spcPts val="750"/>
              </a:spcAft>
              <a:buNone/>
            </a:pPr>
            <a:r>
              <a:rPr lang="en-US" sz="16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Businesses rely on roughly </a:t>
            </a:r>
            <a:pPr algn="l" indent="0" marL="0">
              <a:lnSpc>
                <a:spcPts val="2240"/>
              </a:lnSpc>
              <a:spcAft>
                <a:spcPts val="750"/>
              </a:spcAft>
              <a:buNone/>
            </a:pPr>
            <a:r>
              <a:rPr lang="en-US" sz="1600" b="1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300+ applications</a:t>
            </a:r>
            <a:pPr algn="l" indent="0" marL="0">
              <a:lnSpc>
                <a:spcPts val="2240"/>
              </a:lnSpc>
              <a:spcAft>
                <a:spcPts val="750"/>
              </a:spcAft>
              <a:buNone/>
            </a:pPr>
            <a:r>
              <a:rPr lang="en-US" sz="16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yet most remain disconnected.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81000" y="2837111"/>
            <a:ext cx="8382000" cy="1437084"/>
          </a:xfrm>
          <a:prstGeom prst="rect">
            <a:avLst/>
          </a:prstGeom>
          <a:noFill/>
          <a:ln/>
        </p:spPr>
        <p:txBody>
          <a:bodyPr wrap="square" lIns="142875" tIns="0" rIns="0" bIns="0" rtlCol="0" anchor="t"/>
          <a:lstStyle/>
          <a:p>
            <a:pPr algn="l" marL="142875" indent="-142875">
              <a:lnSpc>
                <a:spcPts val="2080"/>
              </a:lnSpc>
              <a:spcAft>
                <a:spcPts val="750"/>
              </a:spcAft>
              <a:buSzPct val="100000"/>
              <a:buChar char="•"/>
            </a:pPr>
            <a:r>
              <a:rPr lang="en-US" sz="16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Manual data entry creates operational bottlenecks and errors.</a:t>
            </a:r>
            <a:endParaRPr lang="en-US" sz="1600" dirty="0"/>
          </a:p>
          <a:p>
            <a:pPr algn="l" marL="142875" indent="-142875">
              <a:lnSpc>
                <a:spcPts val="2080"/>
              </a:lnSpc>
              <a:spcAft>
                <a:spcPts val="750"/>
              </a:spcAft>
              <a:buSzPct val="100000"/>
              <a:buChar char="•"/>
            </a:pPr>
            <a:r>
              <a:rPr lang="en-US" sz="16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Teams waste valuable time on repetitive, low-impact tasks.</a:t>
            </a:r>
            <a:endParaRPr lang="en-US" sz="1600" dirty="0"/>
          </a:p>
          <a:p>
            <a:pPr algn="l" marL="142875" indent="-142875">
              <a:lnSpc>
                <a:spcPts val="2080"/>
              </a:lnSpc>
              <a:spcAft>
                <a:spcPts val="750"/>
              </a:spcAft>
              <a:buSzPct val="100000"/>
              <a:buChar char="•"/>
            </a:pPr>
            <a:r>
              <a:rPr lang="en-US" sz="16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Scaling becomes impossible without a unified, automated workflow.</a:t>
            </a:r>
            <a:endParaRPr lang="en-US" sz="1600" dirty="0"/>
          </a:p>
          <a:p>
            <a:pPr algn="l" marL="142875" indent="-142875">
              <a:lnSpc>
                <a:spcPts val="2080"/>
              </a:lnSpc>
              <a:spcAft>
                <a:spcPts val="750"/>
              </a:spcAft>
              <a:buSzPct val="100000"/>
              <a:buChar char="•"/>
            </a:pPr>
            <a:r>
              <a:rPr lang="en-US" sz="16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Growth stalls due to fragmented data and systems.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68796"/>
            <a:ext cx="854964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750"/>
              </a:spcAft>
              <a:buNone/>
            </a:pPr>
            <a:r>
              <a:rPr lang="en-US" sz="2800" b="1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OUR SOLUTION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81000" y="892671"/>
            <a:ext cx="8549640" cy="676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AI-DRIVEN AUTOMATION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381000" y="1854696"/>
            <a:ext cx="4000500" cy="1364754"/>
          </a:xfrm>
          <a:prstGeom prst="roundRect">
            <a:avLst>
              <a:gd name="adj" fmla="val 8375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81025" y="2054721"/>
            <a:ext cx="3672459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750"/>
              </a:spcAft>
              <a:buNone/>
            </a:pPr>
            <a:r>
              <a:rPr lang="en-US" sz="1800" b="1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Unified Stack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81025" y="2426196"/>
            <a:ext cx="3672459" cy="4979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spcAft>
                <a:spcPts val="750"/>
              </a:spcAft>
              <a:buNone/>
            </a:pPr>
            <a:r>
              <a:rPr lang="en-US" sz="14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Seamless integration of your entire tech ecosystem. No more data silos.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762500" y="1854696"/>
            <a:ext cx="4000500" cy="1364754"/>
          </a:xfrm>
          <a:prstGeom prst="roundRect">
            <a:avLst>
              <a:gd name="adj" fmla="val 8375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962525" y="2054721"/>
            <a:ext cx="3672459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750"/>
              </a:spcAft>
              <a:buNone/>
            </a:pPr>
            <a:r>
              <a:rPr lang="en-US" sz="1800" b="1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24/7 AI Agents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962525" y="2426196"/>
            <a:ext cx="3672459" cy="4979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spcAft>
                <a:spcPts val="750"/>
              </a:spcAft>
              <a:buNone/>
            </a:pPr>
            <a:r>
              <a:rPr lang="en-US" sz="14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Intelligent agents handle complex workflows around the clock.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81000" y="3409950"/>
            <a:ext cx="4000500" cy="1364754"/>
          </a:xfrm>
          <a:prstGeom prst="roundRect">
            <a:avLst>
              <a:gd name="adj" fmla="val 8375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81025" y="3609975"/>
            <a:ext cx="3672459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750"/>
              </a:spcAft>
              <a:buNone/>
            </a:pPr>
            <a:r>
              <a:rPr lang="en-US" sz="1800" b="1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Error Reduction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81025" y="3981450"/>
            <a:ext cx="3672459" cy="4979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spcAft>
                <a:spcPts val="750"/>
              </a:spcAft>
              <a:buNone/>
            </a:pPr>
            <a:r>
              <a:rPr lang="en-US" sz="14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Eliminate human error by up to 99% through validation and automation.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762500" y="3409950"/>
            <a:ext cx="4000500" cy="1364754"/>
          </a:xfrm>
          <a:prstGeom prst="roundRect">
            <a:avLst>
              <a:gd name="adj" fmla="val 8375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962525" y="3609975"/>
            <a:ext cx="3672459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750"/>
              </a:spcAft>
              <a:buNone/>
            </a:pPr>
            <a:r>
              <a:rPr lang="en-US" sz="1800" b="1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Real-time Sync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962525" y="3981450"/>
            <a:ext cx="3672459" cy="4979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spcAft>
                <a:spcPts val="750"/>
              </a:spcAft>
              <a:buNone/>
            </a:pPr>
            <a:r>
              <a:rPr lang="en-US" sz="14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is instantly available across all platforms when you need it.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NXSTEP Business Proposal</dc:title>
  <dc:subject>PptxGenJS Presentation</dc:subject>
  <dc:creator>NXSTEP</dc:creator>
  <cp:lastModifiedBy>NXSTEP</cp:lastModifiedBy>
  <cp:revision>1</cp:revision>
  <dcterms:created xsi:type="dcterms:W3CDTF">2026-02-19T07:54:04Z</dcterms:created>
  <dcterms:modified xsi:type="dcterms:W3CDTF">2026-02-19T07:54:04Z</dcterms:modified>
</cp:coreProperties>
</file>